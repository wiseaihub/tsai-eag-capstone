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76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66310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AB6F8-C201-1413-0467-55AB8E342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750EE-0FDE-8679-5539-73B475033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461195-8F51-37B0-084E-1DE28762D4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2E501A-77AF-F5EE-E383-32C44B25F5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4893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36275" y="1482090"/>
            <a:ext cx="32713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4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WISE CDSS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2180774" y="2320290"/>
            <a:ext cx="47823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Clinical Decision Support for India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108481" y="2716530"/>
            <a:ext cx="29270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TSAI EAG Capstone Project 2026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656838" y="3288030"/>
            <a:ext cx="3830323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Sreedhar (PM/Healthcare SME) &amp; Ritesh (Tech/AI SME)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001975" y="3474720"/>
            <a:ext cx="31400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Kickoff: Feb 14 | Demo Day: Mar 13, 2026 (28 days)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India Healthcare Crisis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0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Doctor-patient ratio: 1:1,456 vs WHO standard 1:1,000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5-7 min consultations → under-investigation, missed diagnoses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records, low patient health literacy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₹1,606 Cr AI market (27.7% CAGR) but limited CDSS adoption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D2345-7278-6E27-4C66-D5FAF869A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25275F0-C1CB-A6E6-ABBB-2731E38A5B78}"/>
              </a:ext>
            </a:extLst>
          </p:cNvPr>
          <p:cNvSpPr/>
          <p:nvPr/>
        </p:nvSpPr>
        <p:spPr>
          <a:xfrm>
            <a:off x="126609" y="149984"/>
            <a:ext cx="8827477" cy="490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spcAft>
                <a:spcPts val="300"/>
              </a:spcAft>
              <a:buNone/>
            </a:pPr>
            <a:r>
              <a:rPr lang="en-IN" sz="2400" b="1" dirty="0">
                <a:solidFill>
                  <a:srgbClr val="00B0F0"/>
                </a:solidFill>
                <a:latin typeface="Arial Narrow" panose="020B0606020202030204" pitchFamily="34" charset="0"/>
              </a:rPr>
              <a:t>WISE AI — Agentic Clinical Decision &amp; Continued‑Care System (CDSS)</a:t>
            </a:r>
            <a:endParaRPr lang="en-IN" sz="2800" b="1" dirty="0">
              <a:solidFill>
                <a:srgbClr val="00B0F0"/>
              </a:solidFill>
              <a:latin typeface="Arial Narrow" panose="020B060602020203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7D63C0D-4EBB-45FC-6547-4E8746E7D9D0}"/>
              </a:ext>
            </a:extLst>
          </p:cNvPr>
          <p:cNvSpPr/>
          <p:nvPr/>
        </p:nvSpPr>
        <p:spPr>
          <a:xfrm>
            <a:off x="320040" y="640080"/>
            <a:ext cx="8503920" cy="450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IN" sz="1600" b="1" dirty="0">
                <a:solidFill>
                  <a:srgbClr val="FF0000"/>
                </a:solidFill>
                <a:latin typeface="Arial Narrow" panose="020B0606020202030204" pitchFamily="34" charset="0"/>
              </a:rPr>
              <a:t>Problem</a:t>
            </a:r>
            <a:endParaRPr lang="en-IN" sz="1600" dirty="0">
              <a:solidFill>
                <a:srgbClr val="FF0000"/>
              </a:solidFill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bg1"/>
                </a:solidFill>
                <a:latin typeface="Arial Narrow" panose="020B0606020202030204" pitchFamily="34" charset="0"/>
              </a:rPr>
              <a:t>Clinical decisions are fragmented across EHR data, labs, history, and research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bg1"/>
                </a:solidFill>
                <a:latin typeface="Arial Narrow" panose="020B0606020202030204" pitchFamily="34" charset="0"/>
              </a:rPr>
              <a:t>Doctors operate under time pressure; patients lack guided continuity of care</a:t>
            </a:r>
          </a:p>
          <a:p>
            <a:endParaRPr lang="en-IN" sz="1400" b="1" dirty="0">
              <a:solidFill>
                <a:srgbClr val="0D0D0D"/>
              </a:solidFill>
              <a:latin typeface="Arial Narrow" panose="020B0606020202030204" pitchFamily="34" charset="0"/>
            </a:endParaRPr>
          </a:p>
          <a:p>
            <a:r>
              <a:rPr lang="en-IN" sz="1600" b="1" dirty="0">
                <a:solidFill>
                  <a:srgbClr val="00B050"/>
                </a:solidFill>
                <a:latin typeface="Arial Narrow" panose="020B0606020202030204" pitchFamily="34" charset="0"/>
              </a:rPr>
              <a:t>Solution (WISE AI) </a:t>
            </a:r>
            <a:endParaRPr lang="en-IN" sz="1600" dirty="0">
              <a:solidFill>
                <a:srgbClr val="00B050"/>
              </a:solidFill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bg1"/>
                </a:solidFill>
                <a:latin typeface="Arial Narrow" panose="020B0606020202030204" pitchFamily="34" charset="0"/>
              </a:rPr>
              <a:t>A</a:t>
            </a:r>
            <a:r>
              <a:rPr lang="en-IN" sz="1400" b="1" dirty="0">
                <a:solidFill>
                  <a:schemeClr val="bg1"/>
                </a:solidFill>
                <a:latin typeface="Arial Narrow" panose="020B0606020202030204" pitchFamily="34" charset="0"/>
              </a:rPr>
              <a:t>gentic CDSS</a:t>
            </a:r>
            <a:r>
              <a:rPr lang="en-IN" sz="1400" dirty="0">
                <a:solidFill>
                  <a:schemeClr val="bg1"/>
                </a:solidFill>
                <a:latin typeface="Arial Narrow" panose="020B0606020202030204" pitchFamily="34" charset="0"/>
              </a:rPr>
              <a:t> </a:t>
            </a:r>
            <a:r>
              <a:rPr lang="en-IN" sz="1400" dirty="0">
                <a:solidFill>
                  <a:schemeClr val="bg1"/>
                </a:solidFill>
                <a:latin typeface="Arial Narrow" panose="020B0606020202030204" pitchFamily="34" charset="0"/>
                <a:sym typeface="Wingdings" panose="05000000000000000000" pitchFamily="2" charset="2"/>
              </a:rPr>
              <a:t>  (</a:t>
            </a:r>
            <a:r>
              <a:rPr lang="en-IN" sz="1400" dirty="0">
                <a:solidFill>
                  <a:schemeClr val="bg1"/>
                </a:solidFill>
                <a:latin typeface="Arial Narrow" panose="020B0606020202030204" pitchFamily="34" charset="0"/>
              </a:rPr>
              <a:t>overlays EHR workflows) </a:t>
            </a:r>
            <a:r>
              <a:rPr lang="en-IN" sz="2000" dirty="0">
                <a:solidFill>
                  <a:schemeClr val="bg1"/>
                </a:solidFill>
                <a:latin typeface="Arial Narrow" panose="020B0606020202030204" pitchFamily="34" charset="0"/>
              </a:rPr>
              <a:t>+</a:t>
            </a:r>
            <a:r>
              <a:rPr lang="en-IN" sz="1400" dirty="0">
                <a:solidFill>
                  <a:schemeClr val="bg1"/>
                </a:solidFill>
                <a:latin typeface="Arial Narrow" panose="020B0606020202030204" pitchFamily="34" charset="0"/>
              </a:rPr>
              <a:t> (Synthesizes patient context, research signals, and history )</a:t>
            </a:r>
          </a:p>
          <a:p>
            <a:r>
              <a:rPr lang="en-IN" sz="1400" dirty="0">
                <a:solidFill>
                  <a:schemeClr val="bg1"/>
                </a:solidFill>
                <a:latin typeface="Arial Narrow" panose="020B0606020202030204" pitchFamily="34" charset="0"/>
                <a:sym typeface="Wingdings" panose="05000000000000000000" pitchFamily="2" charset="2"/>
              </a:rPr>
              <a:t>	           </a:t>
            </a:r>
            <a:r>
              <a:rPr lang="en-IN" sz="1400" b="1" dirty="0">
                <a:solidFill>
                  <a:srgbClr val="00B050"/>
                </a:solidFill>
                <a:latin typeface="Arial Narrow" panose="020B0606020202030204" pitchFamily="34" charset="0"/>
              </a:rPr>
              <a:t>Delivers explainable recommendations + confidence feedback</a:t>
            </a:r>
          </a:p>
          <a:p>
            <a:endParaRPr lang="en-IN" sz="1400" b="1" dirty="0">
              <a:solidFill>
                <a:srgbClr val="00B050"/>
              </a:solidFill>
              <a:latin typeface="Arial Narrow" panose="020B0606020202030204" pitchFamily="34" charset="0"/>
            </a:endParaRPr>
          </a:p>
          <a:p>
            <a:endParaRPr lang="en-IN" sz="1400" b="1" dirty="0">
              <a:solidFill>
                <a:srgbClr val="00B050"/>
              </a:solidFill>
              <a:latin typeface="Arial Narrow" panose="020B0606020202030204" pitchFamily="34" charset="0"/>
            </a:endParaRPr>
          </a:p>
          <a:p>
            <a:endParaRPr lang="en-IN" sz="1400" b="1" dirty="0">
              <a:solidFill>
                <a:srgbClr val="0D0D0D"/>
              </a:solidFill>
              <a:latin typeface="Arial Narrow" panose="020B0606020202030204" pitchFamily="34" charset="0"/>
            </a:endParaRPr>
          </a:p>
          <a:p>
            <a:endParaRPr lang="en-IN" sz="1400" dirty="0">
              <a:solidFill>
                <a:srgbClr val="0D0D0D"/>
              </a:solidFill>
              <a:latin typeface="Arial Narrow" panose="020B0606020202030204" pitchFamily="34" charset="0"/>
            </a:endParaRPr>
          </a:p>
          <a:p>
            <a:endParaRPr lang="en-IN" sz="1400" dirty="0">
              <a:solidFill>
                <a:srgbClr val="0D0D0D"/>
              </a:solidFill>
              <a:latin typeface="Arial Narrow" panose="020B0606020202030204" pitchFamily="34" charset="0"/>
            </a:endParaRPr>
          </a:p>
          <a:p>
            <a:endParaRPr lang="en-IN" sz="1400" dirty="0">
              <a:solidFill>
                <a:srgbClr val="0D0D0D"/>
              </a:solidFill>
              <a:latin typeface="Arial Narrow" panose="020B0606020202030204" pitchFamily="34" charset="0"/>
            </a:endParaRPr>
          </a:p>
          <a:p>
            <a:endParaRPr lang="en-IN" sz="1400" dirty="0">
              <a:solidFill>
                <a:srgbClr val="0D0D0D"/>
              </a:solidFill>
              <a:latin typeface="Arial Narrow" panose="020B0606020202030204" pitchFamily="34" charset="0"/>
            </a:endParaRPr>
          </a:p>
          <a:p>
            <a:br>
              <a:rPr lang="en-IN" sz="1400" b="1" dirty="0">
                <a:solidFill>
                  <a:srgbClr val="0D0D0D"/>
                </a:solidFill>
                <a:latin typeface="Arial Narrow" panose="020B0606020202030204" pitchFamily="34" charset="0"/>
              </a:rPr>
            </a:br>
            <a:endParaRPr lang="en-IN" sz="1400" b="1" dirty="0">
              <a:solidFill>
                <a:srgbClr val="0D0D0D"/>
              </a:solidFill>
              <a:latin typeface="Arial Narrow" panose="020B0606020202030204" pitchFamily="34" charset="0"/>
            </a:endParaRPr>
          </a:p>
          <a:p>
            <a:r>
              <a:rPr lang="en-IN" sz="1600" b="1" dirty="0">
                <a:solidFill>
                  <a:srgbClr val="00B0F0"/>
                </a:solidFill>
                <a:latin typeface="Arial Narrow" panose="020B0606020202030204" pitchFamily="34" charset="0"/>
              </a:rPr>
              <a:t>Outcome</a:t>
            </a:r>
            <a:endParaRPr lang="en-IN" sz="1600" dirty="0">
              <a:solidFill>
                <a:srgbClr val="00B0F0"/>
              </a:solidFill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bg1"/>
                </a:solidFill>
                <a:latin typeface="Arial Narrow" panose="020B0606020202030204" pitchFamily="34" charset="0"/>
              </a:rPr>
              <a:t>Decision support for doctors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bg1"/>
                </a:solidFill>
                <a:latin typeface="Arial Narrow" panose="020B0606020202030204" pitchFamily="34" charset="0"/>
              </a:rPr>
              <a:t>Guided continued care for patients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bg1"/>
                </a:solidFill>
                <a:latin typeface="Arial Narrow" panose="020B0606020202030204" pitchFamily="34" charset="0"/>
              </a:rPr>
              <a:t>Production‑ready architecture without production risk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F6EEE-5C3E-8D80-B14B-74149C23EE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477388"/>
              </p:ext>
            </p:extLst>
          </p:nvPr>
        </p:nvGraphicFramePr>
        <p:xfrm>
          <a:off x="1132616" y="2424833"/>
          <a:ext cx="6878768" cy="1730467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3621630">
                  <a:extLst>
                    <a:ext uri="{9D8B030D-6E8A-4147-A177-3AD203B41FA5}">
                      <a16:colId xmlns:a16="http://schemas.microsoft.com/office/drawing/2014/main" val="2309904275"/>
                    </a:ext>
                  </a:extLst>
                </a:gridCol>
                <a:gridCol w="3257138">
                  <a:extLst>
                    <a:ext uri="{9D8B030D-6E8A-4147-A177-3AD203B41FA5}">
                      <a16:colId xmlns:a16="http://schemas.microsoft.com/office/drawing/2014/main" val="1337628229"/>
                    </a:ext>
                  </a:extLst>
                </a:gridCol>
              </a:tblGrid>
              <a:tr h="31509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kern="1200" dirty="0">
                          <a:solidFill>
                            <a:srgbClr val="00B0F0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Architecture (Why it’s Different)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b="1" i="0" kern="1200" dirty="0">
                          <a:solidFill>
                            <a:srgbClr val="00B050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Capstone Focus</a:t>
                      </a:r>
                      <a:endParaRPr lang="en-IN" sz="1600" b="0" i="0" kern="1200" dirty="0">
                        <a:solidFill>
                          <a:srgbClr val="00B050"/>
                        </a:solidFill>
                        <a:effectLst/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2051666"/>
                  </a:ext>
                </a:extLst>
              </a:tr>
              <a:tr h="25326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050" b="0" i="0" dirty="0">
                          <a:solidFill>
                            <a:schemeClr val="bg1"/>
                          </a:solidFill>
                          <a:effectLst/>
                          <a:latin typeface="Arial Narrow" panose="020B0606020202030204" pitchFamily="34" charset="0"/>
                        </a:rPr>
                        <a:t>🔘 User‑invoked, consent‑based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lang="en-IN" sz="1050" b="0" i="0" kern="1200" dirty="0">
                          <a:solidFill>
                            <a:schemeClr val="bg1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Real UI, real flows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756109"/>
                  </a:ext>
                </a:extLst>
              </a:tr>
              <a:tr h="253261">
                <a:tc>
                  <a:txBody>
                    <a:bodyPr/>
                    <a:lstStyle/>
                    <a:p>
                      <a:r>
                        <a:rPr lang="en-IN" sz="1050" b="0" i="0" dirty="0">
                          <a:solidFill>
                            <a:schemeClr val="bg1"/>
                          </a:solidFill>
                          <a:effectLst/>
                          <a:latin typeface="Arial Narrow" panose="020B0606020202030204" pitchFamily="34" charset="0"/>
                        </a:rPr>
                        <a:t>🧩 Plugin for data &amp; research capture</a:t>
                      </a:r>
                      <a:endParaRPr lang="en-IN" sz="1050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r>
                        <a:rPr lang="en-US" sz="1050" b="0" i="0" kern="1200" dirty="0">
                          <a:solidFill>
                            <a:schemeClr val="bg1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Clear MVP vs Future separation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3371752"/>
                  </a:ext>
                </a:extLst>
              </a:tr>
              <a:tr h="286325">
                <a:tc>
                  <a:txBody>
                    <a:bodyPr/>
                    <a:lstStyle/>
                    <a:p>
                      <a:r>
                        <a:rPr lang="en-IN" sz="1050" b="0" i="0" dirty="0">
                          <a:solidFill>
                            <a:schemeClr val="bg1"/>
                          </a:solidFill>
                          <a:effectLst/>
                          <a:latin typeface="Arial Narrow" panose="020B0606020202030204" pitchFamily="34" charset="0"/>
                        </a:rPr>
                        <a:t>🧠 Standalone CDSS Web App for reasoning &amp; UI</a:t>
                      </a:r>
                      <a:endParaRPr lang="en-IN" sz="1050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r>
                        <a:rPr lang="en-US" sz="1050" b="0" i="0" kern="1200" dirty="0">
                          <a:solidFill>
                            <a:schemeClr val="bg1"/>
                          </a:solidFill>
                          <a:effectLst/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Safety‑first, explainability‑first design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6352331"/>
                  </a:ext>
                </a:extLst>
              </a:tr>
              <a:tr h="290283">
                <a:tc>
                  <a:txBody>
                    <a:bodyPr/>
                    <a:lstStyle/>
                    <a:p>
                      <a:r>
                        <a:rPr lang="en-IN" sz="1050" b="0" i="0" dirty="0">
                          <a:solidFill>
                            <a:schemeClr val="bg1"/>
                          </a:solidFill>
                          <a:effectLst/>
                          <a:latin typeface="Arial Narrow" panose="020B0606020202030204" pitchFamily="34" charset="0"/>
                        </a:rPr>
                        <a:t>📚 Shared Knowledge Bank</a:t>
                      </a:r>
                      <a:endParaRPr lang="en-IN" sz="1050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  <a:latin typeface="Arial Narrow" panose="020B0606020202030204" pitchFamily="34" charset="0"/>
                        </a:rPr>
                        <a:t>TSAI students can sign-up &amp; benefit </a:t>
                      </a:r>
                      <a:endParaRPr lang="en-IN" sz="1050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573195"/>
                  </a:ext>
                </a:extLst>
              </a:tr>
              <a:tr h="312057">
                <a:tc>
                  <a:txBody>
                    <a:bodyPr/>
                    <a:lstStyle/>
                    <a:p>
                      <a:r>
                        <a:rPr lang="en-IN" sz="1050" b="0" i="0" dirty="0">
                          <a:solidFill>
                            <a:schemeClr val="bg1"/>
                          </a:solidFill>
                          <a:effectLst/>
                          <a:latin typeface="Arial Narrow" panose="020B0606020202030204" pitchFamily="34" charset="0"/>
                        </a:rPr>
                        <a:t>🤝 Multi‑agent reasoning (no autonomous actions)</a:t>
                      </a:r>
                      <a:endParaRPr lang="en-IN" sz="1050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r>
                        <a:rPr lang="en-US" sz="1050" dirty="0">
                          <a:solidFill>
                            <a:schemeClr val="bg1"/>
                          </a:solidFill>
                          <a:latin typeface="Arial Narrow" panose="020B0606020202030204" pitchFamily="34" charset="0"/>
                        </a:rPr>
                        <a:t>Potential for collabs – India / Abroad</a:t>
                      </a:r>
                      <a:endParaRPr lang="en-IN" sz="1050" dirty="0">
                        <a:solidFill>
                          <a:schemeClr val="bg1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04934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82114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792474"/>
            <a:ext cx="7924800" cy="1924064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2983223"/>
            <a:ext cx="7924800" cy="2007884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152393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Structure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38200" y="1021074"/>
            <a:ext cx="7616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Sreedhar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38200" y="1493513"/>
            <a:ext cx="7616952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&amp; Healthcare IT SME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1783074"/>
            <a:ext cx="716280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workflows &amp; scope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WISE EHR integration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curation &amp; evaluation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38200" y="3211823"/>
            <a:ext cx="7616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Ritesh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38200" y="3684263"/>
            <a:ext cx="7616952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/ AI &amp; Agentic SME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43000" y="4095743"/>
            <a:ext cx="716280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architecture &amp; RAG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orchestration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&amp; infra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WISE AI CDSS Platform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249681"/>
            <a:ext cx="8083296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Dual-interface AI system on WISE EHR: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400" y="1615440"/>
            <a:ext cx="7620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Patient: vitals tracker, lab upload, AI recommendations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Doctor: auto-draft notes, differential diagnosis, citations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plugin (v2.1): research capture, local RAG storage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Agentic AI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0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Multi-agent: Patient Agent, Clinician Agent, Research Agent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Goal-driven: triage → investigation → referral → booking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tool calling: EHR fetch, RAG query, note draft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3-tier knowledge: general KB + patient + research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Complexity: Why 30 Days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0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 LOINC mapping, CBC schema, vitals normalization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AI: Multi-agent orchestration, RAG pipeline, prompt engineering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Integration: WISE EHR APIs, Chrome plugin, dual UIs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Validation: Test cases, citation quality, regulatory checks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249680"/>
            <a:ext cx="7924800" cy="518160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920241"/>
            <a:ext cx="7924800" cy="704850"/>
          </a:xfrm>
          <a:prstGeom prst="rect">
            <a:avLst/>
          </a:prstGeom>
          <a:solidFill>
            <a:srgbClr val="33415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2777491"/>
            <a:ext cx="7924800" cy="415290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3192780"/>
            <a:ext cx="7924800" cy="415290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3608070"/>
            <a:ext cx="7924800" cy="415290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4175761"/>
            <a:ext cx="7924800" cy="415290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85800" y="1402080"/>
            <a:ext cx="7772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UI | Doctor UI | Chrome Plugin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2072641"/>
            <a:ext cx="7772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Orchestrator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2286000"/>
            <a:ext cx="77724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· Doctor · Clinical Agents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6938" y="2891791"/>
            <a:ext cx="785012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Consent-based Data ingestion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6938" y="3307080"/>
            <a:ext cx="785012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3-Tier RAG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6938" y="3722370"/>
            <a:ext cx="785012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6938" y="4290061"/>
            <a:ext cx="785012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70"/>
              </a:lnSpc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 Vitals · Lab Reports · Patient History · Doctor Consultation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929640"/>
            <a:ext cx="7924800" cy="415290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558292"/>
            <a:ext cx="7924800" cy="415290"/>
          </a:xfrm>
          <a:prstGeom prst="rect">
            <a:avLst/>
          </a:prstGeom>
          <a:solidFill>
            <a:srgbClr val="33415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2049783"/>
            <a:ext cx="7924800" cy="415290"/>
          </a:xfrm>
          <a:prstGeom prst="rect">
            <a:avLst/>
          </a:prstGeom>
          <a:solidFill>
            <a:srgbClr val="33415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2678433"/>
            <a:ext cx="7924800" cy="415290"/>
          </a:xfrm>
          <a:prstGeom prst="rect">
            <a:avLst/>
          </a:prstGeom>
          <a:solidFill>
            <a:srgbClr val="33415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3169919"/>
            <a:ext cx="7924800" cy="415290"/>
          </a:xfrm>
          <a:prstGeom prst="rect">
            <a:avLst/>
          </a:prstGeom>
          <a:solidFill>
            <a:srgbClr val="33415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3798569"/>
            <a:ext cx="7924800" cy="415290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4290060"/>
            <a:ext cx="7924800" cy="415290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9600" y="28956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Workflow: Patient Triage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46938" y="1043940"/>
            <a:ext cx="785012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uploads CBC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09600" y="1344930"/>
            <a:ext cx="8083296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6938" y="1672592"/>
            <a:ext cx="785012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ingests data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6938" y="2164083"/>
            <a:ext cx="785012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RAG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09600" y="2465069"/>
            <a:ext cx="8083296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6938" y="2792733"/>
            <a:ext cx="785012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plan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6938" y="3284219"/>
            <a:ext cx="785012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tools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09600" y="3585210"/>
            <a:ext cx="8083296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6938" y="3912869"/>
            <a:ext cx="785012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recommendations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6938" y="4404360"/>
            <a:ext cx="785012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specialist if flagged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173482"/>
            <a:ext cx="7924800" cy="1588770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2914650"/>
            <a:ext cx="7924800" cy="1588770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1: Feb 14-21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0100" y="1363982"/>
            <a:ext cx="76946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Sreedhar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04900" y="1623059"/>
            <a:ext cx="723900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CBC triage use cases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Patient/doctor workflows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medical guidelines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0100" y="3105150"/>
            <a:ext cx="76946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Ritesh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04900" y="3364232"/>
            <a:ext cx="723900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&amp; data models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interfaces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EHR API integration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09600" y="4579623"/>
            <a:ext cx="8083296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Milestone: Contracts &amp; workflows done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173482"/>
            <a:ext cx="7924800" cy="1588770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2914650"/>
            <a:ext cx="7924800" cy="1588770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2: Feb 22-28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0100" y="1363982"/>
            <a:ext cx="76946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Sreedhar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04900" y="1623059"/>
            <a:ext cx="723900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Labelled CBC datasets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guideline PDFs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criteria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0100" y="3105150"/>
            <a:ext cx="76946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Ritesh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04900" y="3364232"/>
            <a:ext cx="723900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3-tier RAG pipeline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orchestration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endpoints live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09600" y="4579623"/>
            <a:ext cx="8083296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Milestone: RAG + agent loop working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173482"/>
            <a:ext cx="7924800" cy="1588770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2914650"/>
            <a:ext cx="7924800" cy="1588770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3: Mar 1-7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0100" y="1363982"/>
            <a:ext cx="76946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Sreedhar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04900" y="1623059"/>
            <a:ext cx="723900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wireframes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recommendations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prompts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0100" y="3105150"/>
            <a:ext cx="76946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Ritesh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04900" y="3364232"/>
            <a:ext cx="723900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Patient/doctor UIs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Citation component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 integration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09600" y="4579623"/>
            <a:ext cx="8083296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Milestone: End-to-end flows working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173482"/>
            <a:ext cx="7924800" cy="1588770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2914650"/>
            <a:ext cx="7924800" cy="1588770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4: Mar 8-13 + Buffer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0100" y="1363982"/>
            <a:ext cx="76946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Sreedhar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04900" y="1623059"/>
            <a:ext cx="723900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ArXiv: intro, regulatory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script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deck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0100" y="3105150"/>
            <a:ext cx="76946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Ritesh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04900" y="3364232"/>
            <a:ext cx="7239000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ArXiv: method, tests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 &amp; metrics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09600" y="4579623"/>
            <a:ext cx="8083296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13: Demo + Mar 14: Buffer day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Project Plan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2"/>
            <a:ext cx="762000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docs/: ArXiv paper, architecture diagrams, API specs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data/: lab data mappings, sample clinical datasets, rules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backend/: FastAPI, agent orchestrator, RAG pipeline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frontend/: React patient/doctor UIs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400" y="2967991"/>
            <a:ext cx="762000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chrome-plugin/: Research capture extension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tests/: Unit tests, integration tests, eval scenarios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deployment/: Docker, env configs, cloud scripts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README: Setup, demo videos, contribution guide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Day Deliverables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2"/>
            <a:ext cx="762000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prototype: patient + doctor triggered AI tool for continued care / clinical decision support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ArXiv paper: novelty, architecture, India context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code, tests, docs, demo videos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scenarios: CBC triage, vitals alert, referral, citations, feedback loops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&amp; Contributions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2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integration with continuous learning (not standalone chatbot)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3-tier RAG: general + patient + clinician research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Transparent citations for trust &amp; clinical validation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India-first: CBC/vitals, Ayushman Bharat compatible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Metrics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2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 accuracy: &gt;85% match with expert labels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Citation traceability: 100% of recommendations sourced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Usability: doctors validate/override in &lt;30 sec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reliability: 5 scenarios execute without failures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2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Project board setup (Feb 14)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1: Feb 14-21 - foundation, data models, workflows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sync: Wednesdays 3 PM IST (45 min sprint review)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day: Mar 13, 2026 + 1 buffer day for final polish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89432" y="1672596"/>
            <a:ext cx="2565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012055" y="2449832"/>
            <a:ext cx="311989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build India's first agentic CDSS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018372" y="3097532"/>
            <a:ext cx="3107138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github.com/wiseaihub/TSAI-EAG-Capstone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972343" y="3284218"/>
            <a:ext cx="319931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70"/>
              </a:lnSpc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sbyreeka@gmail.com | riteshv2@gmail.com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644</TotalTime>
  <Words>918</Words>
  <Application>Microsoft Office PowerPoint</Application>
  <PresentationFormat>On-screen Show (16:9)</PresentationFormat>
  <Paragraphs>179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Arial Narrow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Perplexity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Sreedhar Byreeka</cp:lastModifiedBy>
  <cp:revision>5</cp:revision>
  <dcterms:created xsi:type="dcterms:W3CDTF">2026-02-03T10:28:21Z</dcterms:created>
  <dcterms:modified xsi:type="dcterms:W3CDTF">2026-02-13T18:34:36Z</dcterms:modified>
</cp:coreProperties>
</file>